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6200000" cy="342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200000" cy="4140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216000"/>
            <a:ext cx="15480000" cy="1872000"/>
          </a:xfrm>
          <a:prstGeom prst="rect">
            <a:avLst/>
          </a:prstGeom>
          <a:noFill/>
        </p:spPr>
        <p:txBody>
          <a:bodyPr wrap="square" lIns="36000">
            <a:spAutoFit/>
          </a:bodyPr>
          <a:lstStyle/>
          <a:p>
            <a:pPr algn="ctr"/>
            <a:r>
              <a:rPr sz="3000" b="1">
                <a:solidFill>
                  <a:srgbClr val="FFFFFF"/>
                </a:solidFill>
                <a:latin typeface="メイリオ"/>
              </a:rPr>
              <a:t>AI支援型コーディング技術（Vibe coding）による乳房形態評価アプリの開発</a:t>
            </a:r>
          </a:p>
        </p:txBody>
      </p:sp>
      <p:sp>
        <p:nvSpPr>
          <p:cNvPr id="4" name="TextBox 3"/>
          <p:cNvSpPr txBox="1"/>
          <p:nvPr/>
        </p:nvSpPr>
        <p:spPr>
          <a:xfrm>
            <a:off x="360000" y="2268000"/>
            <a:ext cx="15480000" cy="648000"/>
          </a:xfrm>
          <a:prstGeom prst="rect">
            <a:avLst/>
          </a:prstGeom>
          <a:noFill/>
        </p:spPr>
        <p:txBody>
          <a:bodyPr wrap="none">
            <a:spAutoFit/>
          </a:bodyPr>
          <a:lstStyle/>
          <a:p>
            <a:pPr algn="ctr"/>
            <a:r>
              <a:rPr sz="1800">
                <a:solidFill>
                  <a:srgbClr val="FFFFFF"/>
                </a:solidFill>
                <a:latin typeface="メイリオ"/>
              </a:rPr>
              <a:t>〇大槻祐喜、水野まどか、藤原久留望、浅香明紀、塗隆志</a:t>
            </a:r>
          </a:p>
        </p:txBody>
      </p:sp>
      <p:sp>
        <p:nvSpPr>
          <p:cNvPr id="5" name="TextBox 4"/>
          <p:cNvSpPr txBox="1"/>
          <p:nvPr/>
        </p:nvSpPr>
        <p:spPr>
          <a:xfrm>
            <a:off x="360000" y="2951999"/>
            <a:ext cx="15480000" cy="576000"/>
          </a:xfrm>
          <a:prstGeom prst="rect">
            <a:avLst/>
          </a:prstGeom>
          <a:noFill/>
        </p:spPr>
        <p:txBody>
          <a:bodyPr wrap="none">
            <a:spAutoFit/>
          </a:bodyPr>
          <a:lstStyle/>
          <a:p>
            <a:pPr algn="ctr"/>
            <a:r>
              <a:rPr sz="1600">
                <a:solidFill>
                  <a:srgbClr val="D6E4F0"/>
                </a:solidFill>
                <a:latin typeface="メイリオ"/>
              </a:rPr>
              <a:t>大阪医科薬科大学　形成外科</a:t>
            </a:r>
          </a:p>
        </p:txBody>
      </p:sp>
      <p:sp>
        <p:nvSpPr>
          <p:cNvPr id="6" name="Rectangle 5"/>
          <p:cNvSpPr/>
          <p:nvPr/>
        </p:nvSpPr>
        <p:spPr>
          <a:xfrm>
            <a:off x="0" y="4140000"/>
            <a:ext cx="16200000" cy="54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0000" y="4176000"/>
            <a:ext cx="15480000" cy="468000"/>
          </a:xfrm>
          <a:prstGeom prst="rect">
            <a:avLst/>
          </a:prstGeom>
          <a:noFill/>
        </p:spPr>
        <p:txBody>
          <a:bodyPr wrap="none">
            <a:spAutoFit/>
          </a:bodyPr>
          <a:lstStyle/>
          <a:p>
            <a:pPr algn="ctr"/>
            <a:r>
              <a:rPr sz="1100">
                <a:solidFill>
                  <a:srgbClr val="FFFFFF"/>
                </a:solidFill>
                <a:latin typeface="メイリオ"/>
              </a:rPr>
              <a:t>第69回日本形成外科学会総会学術集会　2026年4月22日（水）　一般演題「人工知能（AI)」　第9会場</a:t>
            </a:r>
          </a:p>
        </p:txBody>
      </p:sp>
      <p:sp>
        <p:nvSpPr>
          <p:cNvPr id="8" name="Rectangle 7"/>
          <p:cNvSpPr/>
          <p:nvPr/>
        </p:nvSpPr>
        <p:spPr>
          <a:xfrm>
            <a:off x="0" y="4680000"/>
            <a:ext cx="16200000" cy="216000"/>
          </a:xfrm>
          <a:prstGeom prst="rect">
            <a:avLst/>
          </a:prstGeom>
          <a:solidFill>
            <a:srgbClr val="F5F5F5"/>
          </a:solidFill>
          <a:ln w="3810">
            <a:solidFill>
              <a:srgbClr val="ADC8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0000" y="4680000"/>
            <a:ext cx="15840000" cy="216000"/>
          </a:xfrm>
          <a:prstGeom prst="rect">
            <a:avLst/>
          </a:prstGeom>
          <a:noFill/>
        </p:spPr>
        <p:txBody>
          <a:bodyPr wrap="none">
            <a:spAutoFit/>
          </a:bodyPr>
          <a:lstStyle/>
          <a:p>
            <a:pPr algn="r"/>
            <a:r>
              <a:rPr sz="900">
                <a:solidFill>
                  <a:srgbClr val="444444"/>
                </a:solidFill>
                <a:latin typeface="メイリオ"/>
              </a:rPr>
              <a:t>利益相反：演題発表に関連し開示すべき利益相反関係にある企業などはありません</a:t>
            </a:r>
          </a:p>
        </p:txBody>
      </p:sp>
      <p:sp>
        <p:nvSpPr>
          <p:cNvPr id="10" name="Rectangle 9"/>
          <p:cNvSpPr/>
          <p:nvPr/>
        </p:nvSpPr>
        <p:spPr>
          <a:xfrm>
            <a:off x="180000" y="4914000"/>
            <a:ext cx="7668000" cy="432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90000" tIns="18000" bIns="18000"/>
          <a:lstStyle/>
          <a:p>
            <a:pPr algn="l"/>
            <a:r>
              <a:rPr sz="1500" b="1">
                <a:solidFill>
                  <a:srgbClr val="FFFFFF"/>
                </a:solidFill>
                <a:latin typeface="メイリオ"/>
              </a:rPr>
              <a:t>■ 背景</a:t>
            </a:r>
          </a:p>
        </p:txBody>
      </p:sp>
      <p:sp>
        <p:nvSpPr>
          <p:cNvPr id="11" name="Rectangle 10"/>
          <p:cNvSpPr/>
          <p:nvPr/>
        </p:nvSpPr>
        <p:spPr>
          <a:xfrm>
            <a:off x="180000" y="5400000"/>
            <a:ext cx="7668000" cy="4500000"/>
          </a:xfrm>
          <a:prstGeom prst="rect">
            <a:avLst/>
          </a:prstGeom>
          <a:solidFill>
            <a:srgbClr val="F5F5F5"/>
          </a:solidFill>
          <a:ln w="9525">
            <a:solidFill>
              <a:srgbClr val="ADC8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000" y="5472000"/>
            <a:ext cx="7488000" cy="4392000"/>
          </a:xfrm>
          <a:prstGeom prst="rect">
            <a:avLst/>
          </a:prstGeom>
          <a:noFill/>
        </p:spPr>
        <p:txBody>
          <a:bodyPr wrap="square" lIns="108000" tIns="72000" bIns="72000">
            <a:spAutoFit/>
          </a:bodyPr>
          <a:lstStyle/>
          <a:p>
            <a:pPr algn="l"/>
            <a:r>
              <a:rPr sz="1200" b="1">
                <a:solidFill>
                  <a:srgbClr val="1A1A1A"/>
                </a:solidFill>
                <a:latin typeface="メイリオ"/>
              </a:rPr>
              <a:t>客観的乳房形態評価の現状</a:t>
            </a:r>
          </a:p>
          <a:p>
            <a:pPr algn="l"/>
            <a:r>
              <a:rPr sz="400" b="0">
                <a:solidFill>
                  <a:srgbClr val="1A1A1A"/>
                </a:solidFill>
                <a:latin typeface="メイリオ"/>
              </a:rPr>
              <a:t/>
            </a:r>
          </a:p>
          <a:p>
            <a:pPr algn="l"/>
            <a:r>
              <a:rPr sz="1050" b="0">
                <a:solidFill>
                  <a:srgbClr val="1A1A1A"/>
                </a:solidFill>
                <a:latin typeface="メイリオ"/>
              </a:rPr>
              <a:t>乳房再建後の形態評価は従来、主観的評価に依存してきた</a:t>
            </a:r>
          </a:p>
          <a:p>
            <a:pPr algn="l"/>
            <a:r>
              <a:rPr sz="300" b="0">
                <a:solidFill>
                  <a:srgbClr val="1A1A1A"/>
                </a:solidFill>
                <a:latin typeface="メイリオ"/>
              </a:rPr>
              <a:t/>
            </a:r>
          </a:p>
          <a:p>
            <a:pPr algn="l"/>
            <a:r>
              <a:rPr sz="1100" b="1">
                <a:solidFill>
                  <a:srgbClr val="1A1A1A"/>
                </a:solidFill>
                <a:latin typeface="メイリオ"/>
              </a:rPr>
              <a:t>従来の評価方法の問題点:</a:t>
            </a:r>
          </a:p>
          <a:p>
            <a:pPr algn="l"/>
            <a:r>
              <a:rPr sz="1050" b="0">
                <a:solidFill>
                  <a:srgbClr val="1A1A1A"/>
                </a:solidFill>
                <a:latin typeface="メイリオ"/>
              </a:rPr>
              <a:t>  ・2D・3D写真解析（距離・体積・表面積・対称性を算出）</a:t>
            </a:r>
          </a:p>
          <a:p>
            <a:pPr algn="l"/>
            <a:r>
              <a:rPr sz="1050" b="0">
                <a:solidFill>
                  <a:srgbClr val="1A1A1A"/>
                </a:solidFill>
                <a:latin typeface="メイリオ"/>
              </a:rPr>
              <a:t>  ・様々なソフトで左右のメルクマールの距離差などを算出</a:t>
            </a:r>
          </a:p>
          <a:p>
            <a:pPr algn="l"/>
            <a:r>
              <a:rPr sz="1050" b="0">
                <a:solidFill>
                  <a:srgbClr val="1A1A1A"/>
                </a:solidFill>
                <a:latin typeface="メイリオ"/>
              </a:rPr>
              <a:t>  ・実際の形態差を反映しているわけではない</a:t>
            </a:r>
          </a:p>
          <a:p>
            <a:pPr algn="l"/>
            <a:r>
              <a:rPr sz="1050" b="0">
                <a:solidFill>
                  <a:srgbClr val="1A1A1A"/>
                </a:solidFill>
                <a:latin typeface="メイリオ"/>
              </a:rPr>
              <a:t>  ・測定が煩雑で実用性に乏しい</a:t>
            </a:r>
          </a:p>
          <a:p>
            <a:pPr algn="l"/>
            <a:r>
              <a:rPr sz="1050" b="0">
                <a:solidFill>
                  <a:srgbClr val="1A1A1A"/>
                </a:solidFill>
                <a:latin typeface="メイリオ"/>
              </a:rPr>
              <a:t>  ・差の臨床的意義が不明確</a:t>
            </a:r>
          </a:p>
          <a:p>
            <a:pPr algn="l"/>
            <a:r>
              <a:rPr sz="300" b="0">
                <a:solidFill>
                  <a:srgbClr val="1A1A1A"/>
                </a:solidFill>
                <a:latin typeface="メイリオ"/>
              </a:rPr>
              <a:t/>
            </a:r>
          </a:p>
          <a:p>
            <a:pPr algn="l"/>
            <a:r>
              <a:rPr sz="1100" b="1">
                <a:solidFill>
                  <a:srgbClr val="1A1A1A"/>
                </a:solidFill>
                <a:latin typeface="メイリオ"/>
              </a:rPr>
              <a:t>→ 客観的・定量的・簡便な評価ツールが求められていた</a:t>
            </a:r>
          </a:p>
        </p:txBody>
      </p:sp>
      <p:sp>
        <p:nvSpPr>
          <p:cNvPr id="13" name="Rectangle 12"/>
          <p:cNvSpPr/>
          <p:nvPr/>
        </p:nvSpPr>
        <p:spPr>
          <a:xfrm>
            <a:off x="180000" y="10026000"/>
            <a:ext cx="7668000" cy="432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90000" tIns="18000" bIns="18000"/>
          <a:lstStyle/>
          <a:p>
            <a:pPr algn="l"/>
            <a:r>
              <a:rPr sz="1500" b="1">
                <a:solidFill>
                  <a:srgbClr val="FFFFFF"/>
                </a:solidFill>
                <a:latin typeface="メイリオ"/>
              </a:rPr>
              <a:t>■ 目的</a:t>
            </a:r>
          </a:p>
        </p:txBody>
      </p:sp>
      <p:sp>
        <p:nvSpPr>
          <p:cNvPr id="14" name="Rectangle 13"/>
          <p:cNvSpPr/>
          <p:nvPr/>
        </p:nvSpPr>
        <p:spPr>
          <a:xfrm>
            <a:off x="180000" y="10512000"/>
            <a:ext cx="7668000" cy="3240000"/>
          </a:xfrm>
          <a:prstGeom prst="rect">
            <a:avLst/>
          </a:prstGeom>
          <a:solidFill>
            <a:srgbClr val="F5F5F5"/>
          </a:solidFill>
          <a:ln w="9525">
            <a:solidFill>
              <a:srgbClr val="ADC8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0000" y="10584000"/>
            <a:ext cx="7488000" cy="3131999"/>
          </a:xfrm>
          <a:prstGeom prst="rect">
            <a:avLst/>
          </a:prstGeom>
          <a:noFill/>
        </p:spPr>
        <p:txBody>
          <a:bodyPr wrap="square" lIns="108000" tIns="72000" bIns="72000">
            <a:spAutoFit/>
          </a:bodyPr>
          <a:lstStyle/>
          <a:p>
            <a:pPr algn="l"/>
            <a:r>
              <a:rPr sz="1200" b="1">
                <a:solidFill>
                  <a:srgbClr val="1A1A1A"/>
                </a:solidFill>
                <a:latin typeface="メイリオ"/>
              </a:rPr>
              <a:t>再建乳房の形を…</a:t>
            </a:r>
          </a:p>
          <a:p>
            <a:pPr algn="l"/>
            <a:r>
              <a:rPr sz="400" b="0">
                <a:solidFill>
                  <a:srgbClr val="1A1A1A"/>
                </a:solidFill>
                <a:latin typeface="メイリオ"/>
              </a:rPr>
              <a:t/>
            </a:r>
          </a:p>
          <a:p>
            <a:pPr algn="l"/>
            <a:r>
              <a:rPr sz="1300" b="0">
                <a:solidFill>
                  <a:srgbClr val="1A1A1A"/>
                </a:solidFill>
                <a:latin typeface="メイリオ"/>
              </a:rPr>
              <a:t>    • 客観的に</a:t>
            </a:r>
          </a:p>
          <a:p>
            <a:pPr algn="l"/>
            <a:r>
              <a:rPr sz="1300" b="0">
                <a:solidFill>
                  <a:srgbClr val="1A1A1A"/>
                </a:solidFill>
                <a:latin typeface="メイリオ"/>
              </a:rPr>
              <a:t>    • 簡単に</a:t>
            </a:r>
          </a:p>
          <a:p>
            <a:pPr algn="l"/>
            <a:r>
              <a:rPr sz="1250" b="0">
                <a:solidFill>
                  <a:srgbClr val="1A1A1A"/>
                </a:solidFill>
                <a:latin typeface="メイリオ"/>
              </a:rPr>
              <a:t>    • 評価できるソフトをつくれないか？</a:t>
            </a:r>
          </a:p>
          <a:p>
            <a:pPr algn="l"/>
            <a:r>
              <a:rPr sz="400" b="0">
                <a:solidFill>
                  <a:srgbClr val="1A1A1A"/>
                </a:solidFill>
                <a:latin typeface="メイリオ"/>
              </a:rPr>
              <a:t/>
            </a:r>
          </a:p>
          <a:p>
            <a:pPr algn="l"/>
            <a:r>
              <a:rPr sz="1150" b="1">
                <a:solidFill>
                  <a:srgbClr val="1A1A1A"/>
                </a:solidFill>
                <a:latin typeface="メイリオ"/>
              </a:rPr>
              <a:t>→ AIを活用して開発（Vibe coding：AI支援型コーディング）</a:t>
            </a:r>
          </a:p>
        </p:txBody>
      </p:sp>
      <p:sp>
        <p:nvSpPr>
          <p:cNvPr id="16" name="Rectangle 15"/>
          <p:cNvSpPr/>
          <p:nvPr/>
        </p:nvSpPr>
        <p:spPr>
          <a:xfrm>
            <a:off x="180000" y="13878000"/>
            <a:ext cx="7668000" cy="432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90000" tIns="18000" bIns="18000"/>
          <a:lstStyle/>
          <a:p>
            <a:pPr algn="l"/>
            <a:r>
              <a:rPr sz="1300" b="1">
                <a:solidFill>
                  <a:srgbClr val="FFFFFF"/>
                </a:solidFill>
                <a:latin typeface="メイリオ"/>
              </a:rPr>
              <a:t>■ Vibe coding（AI支援型コーディング）によるアプリ開発</a:t>
            </a:r>
          </a:p>
        </p:txBody>
      </p:sp>
      <p:sp>
        <p:nvSpPr>
          <p:cNvPr id="17" name="Rectangle 16"/>
          <p:cNvSpPr/>
          <p:nvPr/>
        </p:nvSpPr>
        <p:spPr>
          <a:xfrm>
            <a:off x="180000" y="14364000"/>
            <a:ext cx="7668000" cy="4860000"/>
          </a:xfrm>
          <a:prstGeom prst="rect">
            <a:avLst/>
          </a:prstGeom>
          <a:solidFill>
            <a:srgbClr val="F5F5F5"/>
          </a:solidFill>
          <a:ln w="9525">
            <a:solidFill>
              <a:srgbClr val="ADC8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0000" y="14436000"/>
            <a:ext cx="7488000" cy="4752000"/>
          </a:xfrm>
          <a:prstGeom prst="rect">
            <a:avLst/>
          </a:prstGeom>
          <a:noFill/>
        </p:spPr>
        <p:txBody>
          <a:bodyPr wrap="square" lIns="108000" tIns="72000" bIns="72000">
            <a:spAutoFit/>
          </a:bodyPr>
          <a:lstStyle/>
          <a:p>
            <a:pPr algn="l"/>
            <a:r>
              <a:rPr sz="1200" b="1">
                <a:solidFill>
                  <a:srgbClr val="1A1A1A"/>
                </a:solidFill>
                <a:latin typeface="メイリオ"/>
              </a:rPr>
              <a:t>Vibe codingとは</a:t>
            </a:r>
          </a:p>
          <a:p>
            <a:pPr algn="l"/>
            <a:r>
              <a:rPr sz="1050" b="0">
                <a:solidFill>
                  <a:srgbClr val="1A1A1A"/>
                </a:solidFill>
                <a:latin typeface="メイリオ"/>
              </a:rPr>
              <a:t>プログラミング知識がなくても自然言語でAIに指示する</a:t>
            </a:r>
          </a:p>
          <a:p>
            <a:pPr algn="l"/>
            <a:r>
              <a:rPr sz="1050" b="0">
                <a:solidFill>
                  <a:srgbClr val="1A1A1A"/>
                </a:solidFill>
                <a:latin typeface="メイリオ"/>
              </a:rPr>
              <a:t>だけでアプリ開発を可能にする技術</a:t>
            </a:r>
          </a:p>
          <a:p>
            <a:pPr algn="l"/>
            <a:r>
              <a:rPr sz="350" b="0">
                <a:solidFill>
                  <a:srgbClr val="1A1A1A"/>
                </a:solidFill>
                <a:latin typeface="メイリオ"/>
              </a:rPr>
              <a:t/>
            </a:r>
          </a:p>
          <a:p>
            <a:pPr algn="l"/>
            <a:r>
              <a:rPr sz="1200" b="1">
                <a:solidFill>
                  <a:srgbClr val="1A1A1A"/>
                </a:solidFill>
                <a:latin typeface="メイリオ"/>
              </a:rPr>
              <a:t>開発環境</a:t>
            </a:r>
          </a:p>
          <a:p>
            <a:pPr algn="l"/>
            <a:r>
              <a:rPr sz="1050" b="0">
                <a:solidFill>
                  <a:srgbClr val="1A1A1A"/>
                </a:solidFill>
                <a:latin typeface="メイリオ"/>
              </a:rPr>
              <a:t>  • Cursor（Anysphere, San Francisco, CA, USA）</a:t>
            </a:r>
          </a:p>
          <a:p>
            <a:pPr algn="l"/>
            <a:r>
              <a:rPr sz="1000" b="0">
                <a:solidFill>
                  <a:srgbClr val="1A1A1A"/>
                </a:solidFill>
                <a:latin typeface="メイリオ"/>
              </a:rPr>
              <a:t>    AI内蔵型コードエディター</a:t>
            </a:r>
          </a:p>
          <a:p>
            <a:pPr algn="l"/>
            <a:r>
              <a:rPr sz="1050" b="0">
                <a:solidFill>
                  <a:srgbClr val="1A1A1A"/>
                </a:solidFill>
                <a:latin typeface="メイリオ"/>
              </a:rPr>
              <a:t>  • ChatGPT / Claude / Gemini などを内蔵</a:t>
            </a:r>
          </a:p>
          <a:p>
            <a:pPr algn="l"/>
            <a:r>
              <a:rPr sz="350" b="0">
                <a:solidFill>
                  <a:srgbClr val="1A1A1A"/>
                </a:solidFill>
                <a:latin typeface="メイリオ"/>
              </a:rPr>
              <a:t/>
            </a:r>
          </a:p>
          <a:p>
            <a:pPr algn="l"/>
            <a:r>
              <a:rPr sz="1200" b="1">
                <a:solidFill>
                  <a:srgbClr val="1A1A1A"/>
                </a:solidFill>
                <a:latin typeface="メイリオ"/>
              </a:rPr>
              <a:t>開発プロセス</a:t>
            </a:r>
          </a:p>
          <a:p>
            <a:pPr algn="l"/>
            <a:r>
              <a:rPr sz="1050" b="0">
                <a:solidFill>
                  <a:srgbClr val="1A1A1A"/>
                </a:solidFill>
                <a:latin typeface="メイリオ"/>
              </a:rPr>
              <a:t>  ① ChatGPTへ自然言語で要件を指示</a:t>
            </a:r>
          </a:p>
          <a:p>
            <a:pPr algn="l"/>
            <a:r>
              <a:rPr sz="1050" b="0">
                <a:solidFill>
                  <a:srgbClr val="1A1A1A"/>
                </a:solidFill>
                <a:latin typeface="メイリオ"/>
              </a:rPr>
              <a:t>  ② AIが自動でプログラミングコードを生成</a:t>
            </a:r>
          </a:p>
          <a:p>
            <a:pPr algn="l"/>
            <a:r>
              <a:rPr sz="1050" b="0">
                <a:solidFill>
                  <a:srgbClr val="1A1A1A"/>
                </a:solidFill>
                <a:latin typeface="メイリオ"/>
              </a:rPr>
              <a:t>  ③ 乳房トリミング・解析機能を実装</a:t>
            </a:r>
          </a:p>
          <a:p>
            <a:pPr algn="l"/>
            <a:r>
              <a:rPr sz="1050" b="0">
                <a:solidFill>
                  <a:srgbClr val="1A1A1A"/>
                </a:solidFill>
                <a:latin typeface="メイリオ"/>
              </a:rPr>
              <a:t>  ④ 解析ボタン1クリックで乳房形態左右差を自動算出</a:t>
            </a:r>
          </a:p>
        </p:txBody>
      </p:sp>
      <p:sp>
        <p:nvSpPr>
          <p:cNvPr id="19" name="Rectangle 18"/>
          <p:cNvSpPr/>
          <p:nvPr/>
        </p:nvSpPr>
        <p:spPr>
          <a:xfrm>
            <a:off x="180000" y="19350000"/>
            <a:ext cx="7668000" cy="432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90000" tIns="18000" bIns="18000"/>
          <a:lstStyle/>
          <a:p>
            <a:pPr algn="l"/>
            <a:r>
              <a:rPr sz="1300" b="1">
                <a:solidFill>
                  <a:srgbClr val="FFFFFF"/>
                </a:solidFill>
                <a:latin typeface="メイリオ"/>
              </a:rPr>
              <a:t>■ アプリの機能：BSAスコア（Breast Symmetry Analyzer score）</a:t>
            </a:r>
          </a:p>
        </p:txBody>
      </p:sp>
      <p:sp>
        <p:nvSpPr>
          <p:cNvPr id="20" name="Rectangle 19"/>
          <p:cNvSpPr/>
          <p:nvPr/>
        </p:nvSpPr>
        <p:spPr>
          <a:xfrm>
            <a:off x="180000" y="19836000"/>
            <a:ext cx="7668000" cy="12797999"/>
          </a:xfrm>
          <a:prstGeom prst="rect">
            <a:avLst/>
          </a:prstGeom>
          <a:solidFill>
            <a:srgbClr val="F5F5F5"/>
          </a:solidFill>
          <a:ln w="9525">
            <a:solidFill>
              <a:srgbClr val="ADC8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0000" y="19908000"/>
            <a:ext cx="7488000" cy="12689999"/>
          </a:xfrm>
          <a:prstGeom prst="rect">
            <a:avLst/>
          </a:prstGeom>
          <a:noFill/>
        </p:spPr>
        <p:txBody>
          <a:bodyPr wrap="square" lIns="108000" tIns="72000" bIns="72000">
            <a:spAutoFit/>
          </a:bodyPr>
          <a:lstStyle/>
          <a:p>
            <a:pPr algn="l"/>
            <a:r>
              <a:rPr sz="1200" b="1">
                <a:solidFill>
                  <a:srgbClr val="1A1A1A"/>
                </a:solidFill>
                <a:latin typeface="メイリオ"/>
              </a:rPr>
              <a:t>BSAスコア（乳房形態一致率）</a:t>
            </a:r>
          </a:p>
          <a:p>
            <a:pPr algn="l"/>
            <a:r>
              <a:rPr sz="1100" b="0">
                <a:solidFill>
                  <a:srgbClr val="1A1A1A"/>
                </a:solidFill>
                <a:latin typeface="メイリオ"/>
              </a:rPr>
              <a:t>　　0 ＜ BSAスコア ＜ 100　（値が高いほど対称性良好）</a:t>
            </a:r>
          </a:p>
          <a:p>
            <a:pPr algn="l"/>
            <a:r>
              <a:rPr sz="350" b="0">
                <a:solidFill>
                  <a:srgbClr val="1A1A1A"/>
                </a:solidFill>
                <a:latin typeface="メイリオ"/>
              </a:rPr>
              <a:t/>
            </a:r>
          </a:p>
          <a:p>
            <a:pPr algn="l"/>
            <a:r>
              <a:rPr sz="1200" b="1">
                <a:solidFill>
                  <a:srgbClr val="1A1A1A"/>
                </a:solidFill>
                <a:latin typeface="メイリオ"/>
              </a:rPr>
              <a:t>算出アルゴリズム（5ステップ）</a:t>
            </a:r>
          </a:p>
          <a:p>
            <a:pPr algn="l"/>
            <a:r>
              <a:rPr sz="1100" b="1">
                <a:solidFill>
                  <a:srgbClr val="1A1A1A"/>
                </a:solidFill>
                <a:latin typeface="メイリオ"/>
              </a:rPr>
              <a:t>  ① データ入力と前処理</a:t>
            </a:r>
          </a:p>
          <a:p>
            <a:pPr algn="l"/>
            <a:r>
              <a:rPr sz="1050" b="0">
                <a:solidFill>
                  <a:srgbClr val="1A1A1A"/>
                </a:solidFill>
                <a:latin typeface="メイリオ"/>
              </a:rPr>
              <a:t>    3次元データ（STLファイル）を入力し乳房領域をトリミング</a:t>
            </a:r>
          </a:p>
          <a:p>
            <a:pPr algn="l"/>
            <a:r>
              <a:rPr sz="1000" b="0">
                <a:solidFill>
                  <a:srgbClr val="1A1A1A"/>
                </a:solidFill>
                <a:latin typeface="メイリオ"/>
              </a:rPr>
              <a:t>    外側：乳房外側輪郭、上方：腋窩ヒダレベル、</a:t>
            </a:r>
          </a:p>
          <a:p>
            <a:pPr algn="l"/>
            <a:r>
              <a:rPr sz="1000" b="0">
                <a:solidFill>
                  <a:srgbClr val="1A1A1A"/>
                </a:solidFill>
                <a:latin typeface="メイリオ"/>
              </a:rPr>
              <a:t>    下方：乳房下溝、後方：乳房後方境界</a:t>
            </a:r>
          </a:p>
          <a:p>
            <a:pPr algn="l"/>
            <a:r>
              <a:rPr sz="1100" b="1">
                <a:solidFill>
                  <a:srgbClr val="1A1A1A"/>
                </a:solidFill>
                <a:latin typeface="メイリオ"/>
              </a:rPr>
              <a:t>  ② 基準平面の生成とミラーリング</a:t>
            </a:r>
          </a:p>
          <a:p>
            <a:pPr algn="l"/>
            <a:r>
              <a:rPr sz="1050" b="0">
                <a:solidFill>
                  <a:srgbClr val="1A1A1A"/>
                </a:solidFill>
                <a:latin typeface="メイリオ"/>
              </a:rPr>
              <a:t>    主成分分析（PCA）で胸壁・ミラー平面を自動生成</a:t>
            </a:r>
          </a:p>
          <a:p>
            <a:pPr algn="l"/>
            <a:r>
              <a:rPr sz="1050" b="0">
                <a:solidFill>
                  <a:srgbClr val="1A1A1A"/>
                </a:solidFill>
                <a:latin typeface="メイリオ"/>
              </a:rPr>
              <a:t>    左乳房をミラー反転し右側乳房に重ね合わせる</a:t>
            </a:r>
          </a:p>
          <a:p>
            <a:pPr algn="l"/>
            <a:r>
              <a:rPr sz="1100" b="1">
                <a:solidFill>
                  <a:srgbClr val="1A1A1A"/>
                </a:solidFill>
                <a:latin typeface="メイリオ"/>
              </a:rPr>
              <a:t>  ③ 頂点対応の決定</a:t>
            </a:r>
          </a:p>
          <a:p>
            <a:pPr algn="l"/>
            <a:r>
              <a:rPr sz="1050" b="0">
                <a:solidFill>
                  <a:srgbClr val="1A1A1A"/>
                </a:solidFill>
                <a:latin typeface="メイリオ"/>
              </a:rPr>
              <a:t>    KD-treeによる最近傍探索で各頂点を対応付け</a:t>
            </a:r>
          </a:p>
          <a:p>
            <a:pPr algn="l"/>
            <a:r>
              <a:rPr sz="1100" b="1">
                <a:solidFill>
                  <a:srgbClr val="1A1A1A"/>
                </a:solidFill>
                <a:latin typeface="メイリオ"/>
              </a:rPr>
              <a:t>  ④ 対称性スコアの算出</a:t>
            </a:r>
          </a:p>
          <a:p>
            <a:pPr algn="l"/>
            <a:r>
              <a:rPr sz="1050" b="0">
                <a:solidFill>
                  <a:srgbClr val="1A1A1A"/>
                </a:solidFill>
                <a:latin typeface="メイリオ"/>
              </a:rPr>
              <a:t>    対応頂点間の距離差をRMS（二乗平均平方根）で統合</a:t>
            </a:r>
          </a:p>
          <a:p>
            <a:pPr algn="l"/>
            <a:r>
              <a:rPr sz="1050" b="0">
                <a:solidFill>
                  <a:srgbClr val="1A1A1A"/>
                </a:solidFill>
                <a:latin typeface="メイリオ"/>
              </a:rPr>
              <a:t>    線形補間（linear interpolation）で0〜100%に正規化</a:t>
            </a:r>
          </a:p>
          <a:p>
            <a:pPr algn="l"/>
            <a:r>
              <a:rPr sz="1100" b="1">
                <a:solidFill>
                  <a:srgbClr val="1A1A1A"/>
                </a:solidFill>
                <a:latin typeface="メイリオ"/>
              </a:rPr>
              <a:t>  ⑤ 三次元可視化</a:t>
            </a:r>
          </a:p>
          <a:p>
            <a:pPr algn="l"/>
            <a:r>
              <a:rPr sz="1050" b="0">
                <a:solidFill>
                  <a:srgbClr val="1A1A1A"/>
                </a:solidFill>
                <a:latin typeface="メイリオ"/>
              </a:rPr>
              <a:t>    左右差を3Dカラーマップとして可視化・直感的に表示</a:t>
            </a:r>
          </a:p>
        </p:txBody>
      </p:sp>
      <p:sp>
        <p:nvSpPr>
          <p:cNvPr id="22" name="Rectangle 21"/>
          <p:cNvSpPr/>
          <p:nvPr/>
        </p:nvSpPr>
        <p:spPr>
          <a:xfrm>
            <a:off x="8352000" y="4914000"/>
            <a:ext cx="7668000" cy="432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90000" tIns="18000" bIns="18000"/>
          <a:lstStyle/>
          <a:p>
            <a:pPr algn="l"/>
            <a:r>
              <a:rPr sz="1400" b="1">
                <a:solidFill>
                  <a:srgbClr val="FFFFFF"/>
                </a:solidFill>
                <a:latin typeface="メイリオ"/>
              </a:rPr>
              <a:t>■ 方法①　ソフトの精度評価・解析時間</a:t>
            </a:r>
          </a:p>
        </p:txBody>
      </p:sp>
      <p:sp>
        <p:nvSpPr>
          <p:cNvPr id="23" name="Rectangle 22"/>
          <p:cNvSpPr/>
          <p:nvPr/>
        </p:nvSpPr>
        <p:spPr>
          <a:xfrm>
            <a:off x="8352000" y="5400000"/>
            <a:ext cx="7668000" cy="4500000"/>
          </a:xfrm>
          <a:prstGeom prst="rect">
            <a:avLst/>
          </a:prstGeom>
          <a:solidFill>
            <a:srgbClr val="F5F5F5"/>
          </a:solidFill>
          <a:ln w="9525">
            <a:solidFill>
              <a:srgbClr val="ADC8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42000" y="5472000"/>
            <a:ext cx="7488000" cy="4392000"/>
          </a:xfrm>
          <a:prstGeom prst="rect">
            <a:avLst/>
          </a:prstGeom>
          <a:noFill/>
        </p:spPr>
        <p:txBody>
          <a:bodyPr wrap="square" lIns="108000" tIns="72000" bIns="72000">
            <a:spAutoFit/>
          </a:bodyPr>
          <a:lstStyle/>
          <a:p>
            <a:pPr algn="l"/>
            <a:r>
              <a:rPr sz="1200" b="1">
                <a:solidFill>
                  <a:srgbClr val="1A1A1A"/>
                </a:solidFill>
                <a:latin typeface="メイリオ"/>
              </a:rPr>
              <a:t>仮想乳房再建モデルを用いた精度評価</a:t>
            </a:r>
          </a:p>
          <a:p>
            <a:pPr algn="l"/>
            <a:r>
              <a:rPr sz="1050" b="0">
                <a:solidFill>
                  <a:srgbClr val="1A1A1A"/>
                </a:solidFill>
                <a:latin typeface="メイリオ"/>
              </a:rPr>
              <a:t>  • 左右差をつけたマネキン乳房の3Dイメージを作成</a:t>
            </a:r>
          </a:p>
          <a:p>
            <a:pPr algn="l"/>
            <a:r>
              <a:rPr sz="350" b="0">
                <a:solidFill>
                  <a:srgbClr val="1A1A1A"/>
                </a:solidFill>
                <a:latin typeface="メイリオ"/>
              </a:rPr>
              <a:t/>
            </a:r>
          </a:p>
          <a:p>
            <a:pPr algn="l"/>
            <a:r>
              <a:rPr sz="1200" b="1">
                <a:solidFill>
                  <a:srgbClr val="1A1A1A"/>
                </a:solidFill>
                <a:latin typeface="メイリオ"/>
              </a:rPr>
              <a:t>解析精度の評価項目</a:t>
            </a:r>
          </a:p>
          <a:p>
            <a:pPr algn="l"/>
            <a:r>
              <a:rPr sz="1100" b="1">
                <a:solidFill>
                  <a:srgbClr val="1A1A1A"/>
                </a:solidFill>
                <a:latin typeface="メイリオ"/>
              </a:rPr>
              <a:t>  評価者内反復性：</a:t>
            </a:r>
          </a:p>
          <a:p>
            <a:pPr algn="l"/>
            <a:r>
              <a:rPr sz="1050" b="0">
                <a:solidFill>
                  <a:srgbClr val="1A1A1A"/>
                </a:solidFill>
                <a:latin typeface="メイリオ"/>
              </a:rPr>
              <a:t>    仮想乳房再建モデル・臨床症例で各3回ずつ測定し誤差を評価</a:t>
            </a:r>
          </a:p>
          <a:p>
            <a:pPr algn="l"/>
            <a:r>
              <a:rPr sz="1100" b="1">
                <a:solidFill>
                  <a:srgbClr val="1A1A1A"/>
                </a:solidFill>
                <a:latin typeface="メイリオ"/>
              </a:rPr>
              <a:t>  評価者間精度：</a:t>
            </a:r>
          </a:p>
          <a:p>
            <a:pPr algn="l"/>
            <a:r>
              <a:rPr sz="1050" b="0">
                <a:solidFill>
                  <a:srgbClr val="1A1A1A"/>
                </a:solidFill>
                <a:latin typeface="メイリオ"/>
              </a:rPr>
              <a:t>    評価者A・Bの各3回評価スコア平均の誤差を算出</a:t>
            </a:r>
          </a:p>
          <a:p>
            <a:pPr algn="l"/>
            <a:r>
              <a:rPr sz="350" b="0">
                <a:solidFill>
                  <a:srgbClr val="1A1A1A"/>
                </a:solidFill>
                <a:latin typeface="メイリオ"/>
              </a:rPr>
              <a:t/>
            </a:r>
          </a:p>
          <a:p>
            <a:pPr algn="l"/>
            <a:r>
              <a:rPr sz="1200" b="1">
                <a:solidFill>
                  <a:srgbClr val="1A1A1A"/>
                </a:solidFill>
                <a:latin typeface="メイリオ"/>
              </a:rPr>
              <a:t>解析時間の計測</a:t>
            </a:r>
          </a:p>
          <a:p>
            <a:pPr algn="l"/>
            <a:r>
              <a:rPr sz="1050" b="0">
                <a:solidFill>
                  <a:srgbClr val="1A1A1A"/>
                </a:solidFill>
                <a:latin typeface="メイリオ"/>
              </a:rPr>
              <a:t>  • 実際の解析に要する時間を計測</a:t>
            </a:r>
          </a:p>
          <a:p>
            <a:pPr algn="l"/>
            <a:r>
              <a:rPr sz="1050" b="0">
                <a:solidFill>
                  <a:srgbClr val="1A1A1A"/>
                </a:solidFill>
                <a:latin typeface="メイリオ"/>
              </a:rPr>
              <a:t>  • 臨床現場での実用性を検証</a:t>
            </a:r>
          </a:p>
        </p:txBody>
      </p:sp>
      <p:sp>
        <p:nvSpPr>
          <p:cNvPr id="25" name="Rectangle 24"/>
          <p:cNvSpPr/>
          <p:nvPr/>
        </p:nvSpPr>
        <p:spPr>
          <a:xfrm>
            <a:off x="8352000" y="10026000"/>
            <a:ext cx="7668000" cy="432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90000" tIns="18000" bIns="18000"/>
          <a:lstStyle/>
          <a:p>
            <a:pPr algn="l"/>
            <a:r>
              <a:rPr sz="1400" b="1">
                <a:solidFill>
                  <a:srgbClr val="FFFFFF"/>
                </a:solidFill>
                <a:latin typeface="メイリオ"/>
              </a:rPr>
              <a:t>■ 方法②　臨床症例でのスコア評価</a:t>
            </a:r>
          </a:p>
        </p:txBody>
      </p:sp>
      <p:sp>
        <p:nvSpPr>
          <p:cNvPr id="26" name="Rectangle 25"/>
          <p:cNvSpPr/>
          <p:nvPr/>
        </p:nvSpPr>
        <p:spPr>
          <a:xfrm>
            <a:off x="8352000" y="10512000"/>
            <a:ext cx="7668000" cy="4320000"/>
          </a:xfrm>
          <a:prstGeom prst="rect">
            <a:avLst/>
          </a:prstGeom>
          <a:solidFill>
            <a:srgbClr val="F5F5F5"/>
          </a:solidFill>
          <a:ln w="9525">
            <a:solidFill>
              <a:srgbClr val="ADC8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42000" y="10584000"/>
            <a:ext cx="7488000" cy="4212000"/>
          </a:xfrm>
          <a:prstGeom prst="rect">
            <a:avLst/>
          </a:prstGeom>
          <a:noFill/>
        </p:spPr>
        <p:txBody>
          <a:bodyPr wrap="square" lIns="108000" tIns="72000" bIns="72000">
            <a:spAutoFit/>
          </a:bodyPr>
          <a:lstStyle/>
          <a:p>
            <a:pPr algn="l"/>
            <a:r>
              <a:rPr sz="1200" b="1">
                <a:solidFill>
                  <a:srgbClr val="1A1A1A"/>
                </a:solidFill>
                <a:latin typeface="メイリオ"/>
              </a:rPr>
              <a:t>対象症例</a:t>
            </a:r>
          </a:p>
          <a:p>
            <a:pPr algn="l"/>
            <a:r>
              <a:rPr sz="1050" b="0">
                <a:solidFill>
                  <a:srgbClr val="1A1A1A"/>
                </a:solidFill>
                <a:latin typeface="メイリオ"/>
              </a:rPr>
              <a:t>  • 期間：2020年1月〜2023年12月</a:t>
            </a:r>
          </a:p>
          <a:p>
            <a:pPr algn="l"/>
            <a:r>
              <a:rPr sz="1050" b="0">
                <a:solidFill>
                  <a:srgbClr val="1A1A1A"/>
                </a:solidFill>
                <a:latin typeface="メイリオ"/>
              </a:rPr>
              <a:t>  • 当科で自家組織による一次一期乳房再建術を施行した81症例</a:t>
            </a:r>
          </a:p>
          <a:p>
            <a:pPr algn="l"/>
            <a:r>
              <a:rPr sz="350" b="0">
                <a:solidFill>
                  <a:srgbClr val="1A1A1A"/>
                </a:solidFill>
                <a:latin typeface="メイリオ"/>
              </a:rPr>
              <a:t/>
            </a:r>
          </a:p>
          <a:p>
            <a:pPr algn="l"/>
            <a:r>
              <a:rPr sz="1200" b="1">
                <a:solidFill>
                  <a:srgbClr val="1A1A1A"/>
                </a:solidFill>
                <a:latin typeface="メイリオ"/>
              </a:rPr>
              <a:t>症例内訳</a:t>
            </a:r>
          </a:p>
          <a:p>
            <a:pPr algn="l"/>
            <a:r>
              <a:rPr sz="1050" b="0">
                <a:solidFill>
                  <a:srgbClr val="1A1A1A"/>
                </a:solidFill>
                <a:latin typeface="メイリオ"/>
              </a:rPr>
              <a:t>  • 広背筋皮弁（LD）＋脂肪注入：33例</a:t>
            </a:r>
          </a:p>
          <a:p>
            <a:pPr algn="l"/>
            <a:r>
              <a:rPr sz="1050" b="0">
                <a:solidFill>
                  <a:srgbClr val="1A1A1A"/>
                </a:solidFill>
                <a:latin typeface="メイリオ"/>
              </a:rPr>
              <a:t>  • 有茎TRAM：11例</a:t>
            </a:r>
          </a:p>
          <a:p>
            <a:pPr algn="l"/>
            <a:r>
              <a:rPr sz="1050" b="0">
                <a:solidFill>
                  <a:srgbClr val="1A1A1A"/>
                </a:solidFill>
                <a:latin typeface="メイリオ"/>
              </a:rPr>
              <a:t>  • DIEP：37例</a:t>
            </a:r>
          </a:p>
          <a:p>
            <a:pPr algn="l"/>
            <a:r>
              <a:rPr sz="350" b="0">
                <a:solidFill>
                  <a:srgbClr val="1A1A1A"/>
                </a:solidFill>
                <a:latin typeface="メイリオ"/>
              </a:rPr>
              <a:t/>
            </a:r>
          </a:p>
          <a:p>
            <a:pPr algn="l"/>
            <a:r>
              <a:rPr sz="1200" b="1">
                <a:solidFill>
                  <a:srgbClr val="1A1A1A"/>
                </a:solidFill>
                <a:latin typeface="メイリオ"/>
              </a:rPr>
              <a:t>評価方法</a:t>
            </a:r>
          </a:p>
          <a:p>
            <a:pPr algn="l"/>
            <a:r>
              <a:rPr sz="1050" b="0">
                <a:solidFill>
                  <a:srgbClr val="1A1A1A"/>
                </a:solidFill>
                <a:latin typeface="メイリオ"/>
              </a:rPr>
              <a:t>  術後24ヶ月時のVECTRA H2® 3D写真を使用</a:t>
            </a:r>
          </a:p>
          <a:p>
            <a:pPr algn="l"/>
            <a:r>
              <a:rPr sz="1050" b="0">
                <a:solidFill>
                  <a:srgbClr val="1A1A1A"/>
                </a:solidFill>
                <a:latin typeface="メイリオ"/>
              </a:rPr>
              <a:t>  術式間でのBSAスコア差を解析</a:t>
            </a:r>
          </a:p>
          <a:p>
            <a:pPr algn="l"/>
            <a:r>
              <a:rPr sz="1050" b="0">
                <a:solidFill>
                  <a:srgbClr val="1A1A1A"/>
                </a:solidFill>
                <a:latin typeface="メイリオ"/>
              </a:rPr>
              <a:t>  統計：一元配置分散分析（one-way ANOVA）</a:t>
            </a:r>
          </a:p>
        </p:txBody>
      </p:sp>
      <p:sp>
        <p:nvSpPr>
          <p:cNvPr id="28" name="Rectangle 27"/>
          <p:cNvSpPr/>
          <p:nvPr/>
        </p:nvSpPr>
        <p:spPr>
          <a:xfrm>
            <a:off x="8352000" y="14958000"/>
            <a:ext cx="7668000" cy="432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90000" tIns="18000" bIns="18000"/>
          <a:lstStyle/>
          <a:p>
            <a:pPr algn="l"/>
            <a:r>
              <a:rPr sz="1400" b="1">
                <a:solidFill>
                  <a:srgbClr val="FFFFFF"/>
                </a:solidFill>
                <a:latin typeface="メイリオ"/>
              </a:rPr>
              <a:t>■ 結果①　BSAスコアの精度・時間</a:t>
            </a:r>
          </a:p>
        </p:txBody>
      </p:sp>
      <p:sp>
        <p:nvSpPr>
          <p:cNvPr id="29" name="Rectangle 28"/>
          <p:cNvSpPr/>
          <p:nvPr/>
        </p:nvSpPr>
        <p:spPr>
          <a:xfrm>
            <a:off x="8352000" y="15444000"/>
            <a:ext cx="7668000" cy="4500000"/>
          </a:xfrm>
          <a:prstGeom prst="rect">
            <a:avLst/>
          </a:prstGeom>
          <a:solidFill>
            <a:srgbClr val="F5F5F5"/>
          </a:solidFill>
          <a:ln w="9525">
            <a:solidFill>
              <a:srgbClr val="ADC8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42000" y="15516000"/>
            <a:ext cx="7488000" cy="4392000"/>
          </a:xfrm>
          <a:prstGeom prst="rect">
            <a:avLst/>
          </a:prstGeom>
          <a:noFill/>
        </p:spPr>
        <p:txBody>
          <a:bodyPr wrap="square" lIns="108000" tIns="72000" bIns="72000">
            <a:spAutoFit/>
          </a:bodyPr>
          <a:lstStyle/>
          <a:p>
            <a:pPr algn="l"/>
            <a:r>
              <a:rPr sz="1200" b="1">
                <a:solidFill>
                  <a:srgbClr val="1A1A1A"/>
                </a:solidFill>
                <a:latin typeface="メイリオ"/>
              </a:rPr>
              <a:t>仮想乳房再建モデルでの解析結果</a:t>
            </a:r>
          </a:p>
          <a:p>
            <a:pPr algn="l"/>
            <a:r>
              <a:rPr sz="350" b="0">
                <a:solidFill>
                  <a:srgbClr val="1A1A1A"/>
                </a:solidFill>
                <a:latin typeface="メイリオ"/>
              </a:rPr>
              <a:t/>
            </a:r>
          </a:p>
          <a:p>
            <a:pPr algn="l"/>
            <a:r>
              <a:rPr sz="1200" b="1">
                <a:solidFill>
                  <a:srgbClr val="1A1A1A"/>
                </a:solidFill>
                <a:latin typeface="メイリオ"/>
              </a:rPr>
              <a:t>解析精度</a:t>
            </a:r>
          </a:p>
          <a:p>
            <a:pPr algn="l"/>
            <a:r>
              <a:rPr sz="1050" b="0">
                <a:solidFill>
                  <a:srgbClr val="1A1A1A"/>
                </a:solidFill>
                <a:latin typeface="メイリオ"/>
              </a:rPr>
              <a:t>  • 評価者A・B間でスコアにほとんど差がなかった</a:t>
            </a:r>
          </a:p>
          <a:p>
            <a:pPr algn="l"/>
            <a:r>
              <a:rPr sz="1050" b="0">
                <a:solidFill>
                  <a:srgbClr val="1A1A1A"/>
                </a:solidFill>
                <a:latin typeface="メイリオ"/>
              </a:rPr>
              <a:t>  • 評価者内・評価者間ともに良好な再現性を確認</a:t>
            </a:r>
          </a:p>
          <a:p>
            <a:pPr algn="l"/>
            <a:r>
              <a:rPr sz="1050" b="0">
                <a:solidFill>
                  <a:srgbClr val="1A1A1A"/>
                </a:solidFill>
                <a:latin typeface="メイリオ"/>
              </a:rPr>
              <a:t>  • 比較的安定したスコア算出が可能</a:t>
            </a:r>
          </a:p>
          <a:p>
            <a:pPr algn="l"/>
            <a:r>
              <a:rPr sz="350" b="0">
                <a:solidFill>
                  <a:srgbClr val="1A1A1A"/>
                </a:solidFill>
                <a:latin typeface="メイリオ"/>
              </a:rPr>
              <a:t/>
            </a:r>
          </a:p>
          <a:p>
            <a:pPr algn="l"/>
            <a:r>
              <a:rPr sz="1200" b="1">
                <a:solidFill>
                  <a:srgbClr val="1A1A1A"/>
                </a:solidFill>
                <a:latin typeface="メイリオ"/>
              </a:rPr>
              <a:t>解析時間</a:t>
            </a:r>
          </a:p>
          <a:p>
            <a:pPr algn="l"/>
            <a:r>
              <a:rPr sz="1050" b="0">
                <a:solidFill>
                  <a:srgbClr val="1A1A1A"/>
                </a:solidFill>
                <a:latin typeface="メイリオ"/>
              </a:rPr>
              <a:t>  • 1症例あたり約30秒前後</a:t>
            </a:r>
          </a:p>
          <a:p>
            <a:pPr algn="l"/>
            <a:r>
              <a:rPr sz="1050" b="0">
                <a:solidFill>
                  <a:srgbClr val="1A1A1A"/>
                </a:solidFill>
                <a:latin typeface="メイリオ"/>
              </a:rPr>
              <a:t>  • 解析負担は大きくない</a:t>
            </a:r>
          </a:p>
          <a:p>
            <a:pPr algn="l"/>
            <a:r>
              <a:rPr sz="1050" b="0">
                <a:solidFill>
                  <a:srgbClr val="1A1A1A"/>
                </a:solidFill>
                <a:latin typeface="メイリオ"/>
              </a:rPr>
              <a:t>  • 臨床現場での使用に十分な簡便性を確認</a:t>
            </a:r>
          </a:p>
          <a:p>
            <a:pPr algn="l"/>
            <a:r>
              <a:rPr sz="350" b="0">
                <a:solidFill>
                  <a:srgbClr val="1A1A1A"/>
                </a:solidFill>
                <a:latin typeface="メイリオ"/>
              </a:rPr>
              <a:t/>
            </a:r>
          </a:p>
          <a:p>
            <a:pPr algn="l"/>
            <a:r>
              <a:rPr sz="1100" b="1">
                <a:solidFill>
                  <a:srgbClr val="1A1A1A"/>
                </a:solidFill>
                <a:latin typeface="メイリオ"/>
              </a:rPr>
              <a:t>→ 本アプリは十分な精度と実用的な解析速度を有する</a:t>
            </a:r>
          </a:p>
        </p:txBody>
      </p:sp>
      <p:sp>
        <p:nvSpPr>
          <p:cNvPr id="31" name="Rectangle 30"/>
          <p:cNvSpPr/>
          <p:nvPr/>
        </p:nvSpPr>
        <p:spPr>
          <a:xfrm>
            <a:off x="8352000" y="20070000"/>
            <a:ext cx="7668000" cy="432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90000" tIns="18000" bIns="18000"/>
          <a:lstStyle/>
          <a:p>
            <a:pPr algn="l"/>
            <a:r>
              <a:rPr sz="1400" b="1">
                <a:solidFill>
                  <a:srgbClr val="FFFFFF"/>
                </a:solidFill>
                <a:latin typeface="メイリオ"/>
              </a:rPr>
              <a:t>■ 結果②　臨床症例のBSAスコア</a:t>
            </a:r>
          </a:p>
        </p:txBody>
      </p:sp>
      <p:sp>
        <p:nvSpPr>
          <p:cNvPr id="32" name="Rectangle 31"/>
          <p:cNvSpPr/>
          <p:nvPr/>
        </p:nvSpPr>
        <p:spPr>
          <a:xfrm>
            <a:off x="8352000" y="20556000"/>
            <a:ext cx="7668000" cy="4140000"/>
          </a:xfrm>
          <a:prstGeom prst="rect">
            <a:avLst/>
          </a:prstGeom>
          <a:solidFill>
            <a:srgbClr val="F5F5F5"/>
          </a:solidFill>
          <a:ln w="9525">
            <a:solidFill>
              <a:srgbClr val="ADC8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42000" y="20628000"/>
            <a:ext cx="7488000" cy="4031999"/>
          </a:xfrm>
          <a:prstGeom prst="rect">
            <a:avLst/>
          </a:prstGeom>
          <a:noFill/>
        </p:spPr>
        <p:txBody>
          <a:bodyPr wrap="square" lIns="108000" tIns="72000" bIns="72000">
            <a:spAutoFit/>
          </a:bodyPr>
          <a:lstStyle/>
          <a:p>
            <a:pPr algn="l"/>
            <a:r>
              <a:rPr sz="1200" b="1">
                <a:solidFill>
                  <a:srgbClr val="1A1A1A"/>
                </a:solidFill>
                <a:latin typeface="メイリオ"/>
              </a:rPr>
              <a:t>81例全例でBSAスコアの算出に成功</a:t>
            </a:r>
          </a:p>
          <a:p>
            <a:pPr algn="l"/>
            <a:r>
              <a:rPr sz="350" b="0">
                <a:solidFill>
                  <a:srgbClr val="1A1A1A"/>
                </a:solidFill>
                <a:latin typeface="メイリオ"/>
              </a:rPr>
              <a:t/>
            </a:r>
          </a:p>
          <a:p>
            <a:pPr algn="l"/>
            <a:r>
              <a:rPr sz="1200" b="1">
                <a:solidFill>
                  <a:srgbClr val="1A1A1A"/>
                </a:solidFill>
                <a:latin typeface="メイリオ"/>
              </a:rPr>
              <a:t>術式間比較（one-way ANOVA）</a:t>
            </a:r>
          </a:p>
          <a:p>
            <a:pPr algn="l"/>
            <a:r>
              <a:rPr sz="1100" b="0">
                <a:solidFill>
                  <a:srgbClr val="1A1A1A"/>
                </a:solidFill>
                <a:latin typeface="メイリオ"/>
              </a:rPr>
              <a:t>  F(2, 78) = 0.51、p = 0.61</a:t>
            </a:r>
          </a:p>
          <a:p>
            <a:pPr algn="l"/>
            <a:r>
              <a:rPr sz="1050" b="0">
                <a:solidFill>
                  <a:srgbClr val="1A1A1A"/>
                </a:solidFill>
                <a:latin typeface="メイリオ"/>
              </a:rPr>
              <a:t>  → 術式間でスコアに有意差なし</a:t>
            </a:r>
          </a:p>
          <a:p>
            <a:pPr algn="l"/>
            <a:r>
              <a:rPr sz="350" b="0">
                <a:solidFill>
                  <a:srgbClr val="1A1A1A"/>
                </a:solidFill>
                <a:latin typeface="メイリオ"/>
              </a:rPr>
              <a:t/>
            </a:r>
          </a:p>
          <a:p>
            <a:pPr algn="l"/>
            <a:r>
              <a:rPr sz="1100" b="1">
                <a:solidFill>
                  <a:srgbClr val="1A1A1A"/>
                </a:solidFill>
                <a:latin typeface="メイリオ"/>
              </a:rPr>
              <a:t>考察</a:t>
            </a:r>
          </a:p>
          <a:p>
            <a:pPr algn="l"/>
            <a:r>
              <a:rPr sz="1050" b="0">
                <a:solidFill>
                  <a:srgbClr val="1A1A1A"/>
                </a:solidFill>
                <a:latin typeface="メイリオ"/>
              </a:rPr>
              <a:t>  今回は症例数が少ないため術式間比較そのものに意義は乏しいが、</a:t>
            </a:r>
          </a:p>
          <a:p>
            <a:pPr algn="l"/>
            <a:r>
              <a:rPr sz="1050" b="0">
                <a:solidFill>
                  <a:srgbClr val="1A1A1A"/>
                </a:solidFill>
                <a:latin typeface="メイリオ"/>
              </a:rPr>
              <a:t>  全例でスコア算出が可能であることを確認した</a:t>
            </a:r>
          </a:p>
          <a:p>
            <a:pPr algn="l"/>
            <a:r>
              <a:rPr sz="350" b="0">
                <a:solidFill>
                  <a:srgbClr val="1A1A1A"/>
                </a:solidFill>
                <a:latin typeface="メイリオ"/>
              </a:rPr>
              <a:t/>
            </a:r>
          </a:p>
          <a:p>
            <a:pPr algn="l"/>
            <a:r>
              <a:rPr sz="1100" b="1">
                <a:solidFill>
                  <a:srgbClr val="1A1A1A"/>
                </a:solidFill>
                <a:latin typeface="メイリオ"/>
              </a:rPr>
              <a:t>→ 客観的指標として今後の臨床活用の可能性を示した</a:t>
            </a:r>
          </a:p>
        </p:txBody>
      </p:sp>
      <p:sp>
        <p:nvSpPr>
          <p:cNvPr id="34" name="Rectangle 33"/>
          <p:cNvSpPr/>
          <p:nvPr/>
        </p:nvSpPr>
        <p:spPr>
          <a:xfrm>
            <a:off x="8352000" y="24822000"/>
            <a:ext cx="7668000" cy="432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90000" tIns="18000" bIns="18000"/>
          <a:lstStyle/>
          <a:p>
            <a:pPr algn="l"/>
            <a:r>
              <a:rPr sz="1500" b="1">
                <a:solidFill>
                  <a:srgbClr val="FFFFFF"/>
                </a:solidFill>
                <a:latin typeface="メイリオ"/>
              </a:rPr>
              <a:t>■ 考察</a:t>
            </a:r>
          </a:p>
        </p:txBody>
      </p:sp>
      <p:sp>
        <p:nvSpPr>
          <p:cNvPr id="35" name="Rectangle 34"/>
          <p:cNvSpPr/>
          <p:nvPr/>
        </p:nvSpPr>
        <p:spPr>
          <a:xfrm>
            <a:off x="8352000" y="25308000"/>
            <a:ext cx="7668000" cy="7325999"/>
          </a:xfrm>
          <a:prstGeom prst="rect">
            <a:avLst/>
          </a:prstGeom>
          <a:solidFill>
            <a:srgbClr val="F5F5F5"/>
          </a:solidFill>
          <a:ln w="9525">
            <a:solidFill>
              <a:srgbClr val="ADC8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42000" y="25380000"/>
            <a:ext cx="7488000" cy="7217999"/>
          </a:xfrm>
          <a:prstGeom prst="rect">
            <a:avLst/>
          </a:prstGeom>
          <a:noFill/>
        </p:spPr>
        <p:txBody>
          <a:bodyPr wrap="square" lIns="108000" tIns="72000" bIns="72000">
            <a:spAutoFit/>
          </a:bodyPr>
          <a:lstStyle/>
          <a:p>
            <a:pPr algn="l"/>
            <a:r>
              <a:rPr sz="1200" b="1">
                <a:solidFill>
                  <a:srgbClr val="1A1A1A"/>
                </a:solidFill>
                <a:latin typeface="メイリオ"/>
              </a:rPr>
              <a:t>精度に関する考察</a:t>
            </a:r>
          </a:p>
          <a:p>
            <a:pPr algn="l"/>
            <a:r>
              <a:rPr sz="1100" b="1">
                <a:solidFill>
                  <a:srgbClr val="1A1A1A"/>
                </a:solidFill>
                <a:latin typeface="メイリオ"/>
              </a:rPr>
              <a:t>  誤差の原因</a:t>
            </a:r>
          </a:p>
          <a:p>
            <a:pPr algn="l"/>
            <a:r>
              <a:rPr sz="1050" b="0">
                <a:solidFill>
                  <a:srgbClr val="1A1A1A"/>
                </a:solidFill>
                <a:latin typeface="メイリオ"/>
              </a:rPr>
              <a:t>  • ROI設定：乳房範囲の定義の問題</a:t>
            </a:r>
          </a:p>
          <a:p>
            <a:pPr algn="l"/>
            <a:r>
              <a:rPr sz="1050" b="0">
                <a:solidFill>
                  <a:srgbClr val="1A1A1A"/>
                </a:solidFill>
                <a:latin typeface="メイリオ"/>
              </a:rPr>
              <a:t>  • 手動トリミングによる操作誤差</a:t>
            </a:r>
          </a:p>
          <a:p>
            <a:pPr algn="l"/>
            <a:r>
              <a:rPr sz="1050" b="0">
                <a:solidFill>
                  <a:srgbClr val="1A1A1A"/>
                </a:solidFill>
                <a:latin typeface="メイリオ"/>
              </a:rPr>
              <a:t>  → 自動化により誤差の低減が期待できる</a:t>
            </a:r>
          </a:p>
          <a:p>
            <a:pPr algn="l"/>
            <a:r>
              <a:rPr sz="350" b="0">
                <a:solidFill>
                  <a:srgbClr val="1A1A1A"/>
                </a:solidFill>
                <a:latin typeface="メイリオ"/>
              </a:rPr>
              <a:t/>
            </a:r>
          </a:p>
          <a:p>
            <a:pPr algn="l"/>
            <a:r>
              <a:rPr sz="1200" b="1">
                <a:solidFill>
                  <a:srgbClr val="1A1A1A"/>
                </a:solidFill>
                <a:latin typeface="メイリオ"/>
              </a:rPr>
              <a:t>今後の課題</a:t>
            </a:r>
          </a:p>
          <a:p>
            <a:pPr algn="l"/>
            <a:r>
              <a:rPr sz="1100" b="1">
                <a:solidFill>
                  <a:srgbClr val="1A1A1A"/>
                </a:solidFill>
                <a:latin typeface="メイリオ"/>
              </a:rPr>
              <a:t>  現在の課題</a:t>
            </a:r>
          </a:p>
          <a:p>
            <a:pPr algn="l"/>
            <a:r>
              <a:rPr sz="1050" b="0">
                <a:solidFill>
                  <a:srgbClr val="1A1A1A"/>
                </a:solidFill>
                <a:latin typeface="メイリオ"/>
              </a:rPr>
              <a:t>  • 乳房範囲の自動認識・自動トリミング</a:t>
            </a:r>
          </a:p>
          <a:p>
            <a:pPr algn="l"/>
            <a:r>
              <a:rPr sz="1000" b="0">
                <a:solidFill>
                  <a:srgbClr val="1A1A1A"/>
                </a:solidFill>
                <a:latin typeface="メイリオ"/>
              </a:rPr>
              <a:t>    （機械学習の導入が必要→専門家との協力が不可欠）</a:t>
            </a:r>
          </a:p>
          <a:p>
            <a:pPr algn="l"/>
            <a:r>
              <a:rPr sz="300" b="0">
                <a:solidFill>
                  <a:srgbClr val="1A1A1A"/>
                </a:solidFill>
                <a:latin typeface="メイリオ"/>
              </a:rPr>
              <a:t/>
            </a:r>
          </a:p>
          <a:p>
            <a:pPr algn="l"/>
            <a:r>
              <a:rPr sz="1100" b="1">
                <a:solidFill>
                  <a:srgbClr val="1A1A1A"/>
                </a:solidFill>
                <a:latin typeface="メイリオ"/>
              </a:rPr>
              <a:t>  今後の展望</a:t>
            </a:r>
          </a:p>
          <a:p>
            <a:pPr algn="l"/>
            <a:r>
              <a:rPr sz="1050" b="0">
                <a:solidFill>
                  <a:srgbClr val="1A1A1A"/>
                </a:solidFill>
                <a:latin typeface="メイリオ"/>
              </a:rPr>
              <a:t>  • 主観的評価や患者満足度との相関の確認</a:t>
            </a:r>
          </a:p>
          <a:p>
            <a:pPr algn="l"/>
            <a:r>
              <a:rPr sz="1050" b="0">
                <a:solidFill>
                  <a:srgbClr val="1A1A1A"/>
                </a:solidFill>
                <a:latin typeface="メイリオ"/>
              </a:rPr>
              <a:t>  • 乳房再建の結果に影響する要因の解析</a:t>
            </a:r>
          </a:p>
          <a:p>
            <a:pPr algn="l"/>
            <a:r>
              <a:rPr sz="1000" b="0">
                <a:solidFill>
                  <a:srgbClr val="1A1A1A"/>
                </a:solidFill>
                <a:latin typeface="メイリオ"/>
              </a:rPr>
              <a:t>    （術式・放射線照射の有無など）</a:t>
            </a:r>
          </a:p>
          <a:p>
            <a:pPr algn="l"/>
            <a:r>
              <a:rPr sz="1050" b="0">
                <a:solidFill>
                  <a:srgbClr val="1A1A1A"/>
                </a:solidFill>
                <a:latin typeface="メイリオ"/>
              </a:rPr>
              <a:t>  • アカデミックな客観的数値指標として</a:t>
            </a:r>
          </a:p>
          <a:p>
            <a:pPr algn="l"/>
            <a:r>
              <a:rPr sz="1050" b="0">
                <a:solidFill>
                  <a:srgbClr val="1A1A1A"/>
                </a:solidFill>
                <a:latin typeface="メイリオ"/>
              </a:rPr>
              <a:t>    乳房再建の有効性を示すツールへの発展</a:t>
            </a:r>
          </a:p>
        </p:txBody>
      </p:sp>
      <p:sp>
        <p:nvSpPr>
          <p:cNvPr id="37" name="Rectangle 36"/>
          <p:cNvSpPr/>
          <p:nvPr/>
        </p:nvSpPr>
        <p:spPr>
          <a:xfrm>
            <a:off x="0" y="32760000"/>
            <a:ext cx="16200000" cy="144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0000" y="32832000"/>
            <a:ext cx="15480000" cy="360000"/>
          </a:xfrm>
          <a:prstGeom prst="rect">
            <a:avLst/>
          </a:prstGeom>
          <a:noFill/>
        </p:spPr>
        <p:txBody>
          <a:bodyPr wrap="none">
            <a:spAutoFit/>
          </a:bodyPr>
          <a:lstStyle/>
          <a:p>
            <a:pPr algn="ctr"/>
            <a:r>
              <a:rPr sz="1700" b="1">
                <a:solidFill>
                  <a:srgbClr val="FFFFFF"/>
                </a:solidFill>
                <a:latin typeface="メイリオ"/>
              </a:rPr>
              <a:t>■ まとめ</a:t>
            </a:r>
          </a:p>
        </p:txBody>
      </p:sp>
      <p:sp>
        <p:nvSpPr>
          <p:cNvPr id="39" name="TextBox 38"/>
          <p:cNvSpPr txBox="1"/>
          <p:nvPr/>
        </p:nvSpPr>
        <p:spPr>
          <a:xfrm>
            <a:off x="360000" y="33264000"/>
            <a:ext cx="15480000" cy="864000"/>
          </a:xfrm>
          <a:prstGeom prst="rect">
            <a:avLst/>
          </a:prstGeom>
          <a:noFill/>
        </p:spPr>
        <p:txBody>
          <a:bodyPr wrap="square">
            <a:spAutoFit/>
          </a:bodyPr>
          <a:lstStyle/>
          <a:p>
            <a:r>
              <a:rPr sz="1100">
                <a:solidFill>
                  <a:srgbClr val="FFFFFF"/>
                </a:solidFill>
                <a:latin typeface="メイリオ"/>
              </a:rPr>
              <a:t>① 乳房形態を定量的に評価することで、症例間比較・術式別比較・経時的変化などを定量化できる</a:t>
            </a:r>
          </a:p>
          <a:p>
            <a:r>
              <a:rPr sz="1100">
                <a:solidFill>
                  <a:srgbClr val="FFFFFF"/>
                </a:solidFill>
                <a:latin typeface="メイリオ"/>
              </a:rPr>
              <a:t>② 1クリックでスコア化できることで定量化の煩雑さを解決</a:t>
            </a:r>
          </a:p>
          <a:p>
            <a:r>
              <a:rPr sz="1100">
                <a:solidFill>
                  <a:srgbClr val="FFFFFF"/>
                </a:solidFill>
                <a:latin typeface="メイリオ"/>
              </a:rPr>
              <a:t>③ AIの発展によりさらに簡便で精度の高いスコアを開発できる可能性がある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